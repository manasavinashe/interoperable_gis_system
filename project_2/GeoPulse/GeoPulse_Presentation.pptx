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852160" y="64008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0" i="0">
                <a:solidFill>
                  <a:srgbClr val="0FD6C2"/>
                </a:solidFill>
              </a:rPr>
              <a:t>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13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FD6C2"/>
                </a:solidFill>
              </a:rPr>
              <a:t>GeoPulse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33172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6EF7"/>
                </a:solidFill>
              </a:rPr>
              <a:t>An OGC-Compliant Geospatial Web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880360"/>
            <a:ext cx="5788152" cy="27432"/>
          </a:xfrm>
          <a:prstGeom prst="rect">
            <a:avLst/>
          </a:prstGeom>
          <a:solidFill>
            <a:srgbClr val="2A3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01752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GNR629  ·  Project 2  ·  CSRE, IIT Bombay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531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Manas Avinashe  ·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160520"/>
            <a:ext cx="1005840" cy="256032"/>
          </a:xfrm>
          <a:prstGeom prst="rect">
            <a:avLst/>
          </a:prstGeom>
          <a:solidFill>
            <a:srgbClr val="0D1229"/>
          </a:solidFill>
          <a:ln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4" y="41788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6EF7"/>
                </a:solidFill>
              </a:rPr>
              <a:t>OGC WMS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4160520"/>
            <a:ext cx="1005840" cy="256032"/>
          </a:xfrm>
          <a:prstGeom prst="rect">
            <a:avLst/>
          </a:prstGeom>
          <a:solidFill>
            <a:srgbClr val="29180A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9664" y="41788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B923C"/>
                </a:solidFill>
              </a:rPr>
              <a:t>OGC WFS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4160520"/>
            <a:ext cx="1005840" cy="256032"/>
          </a:xfrm>
          <a:prstGeom prst="rect">
            <a:avLst/>
          </a:prstGeom>
          <a:solidFill>
            <a:srgbClr val="022320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41788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FD6C2"/>
                </a:solidFill>
              </a:rPr>
              <a:t>OGC SOS 2.0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19" y="4160520"/>
            <a:ext cx="1005840" cy="256032"/>
          </a:xfrm>
          <a:prstGeom prst="rect">
            <a:avLst/>
          </a:prstGeom>
          <a:solidFill>
            <a:srgbClr val="0C2515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4383" y="4178808"/>
            <a:ext cx="896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ADE80"/>
                </a:solidFill>
              </a:rPr>
              <a:t>O&amp;M · SensorML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 unified portal for two OGC projects — one URL, two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2062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🗺  OGC Tab — Project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4"/>
            <a:ext cx="5120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WMS GetCapabilities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WFS GetCapabilities &amp; GetFeature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Live OpenLayers map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Layer management + BBOX draw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GeoServer integration (port 8080)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22392" cy="42062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61872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📡  SOS Tab — Project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9344"/>
            <a:ext cx="514807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OGC SOS 2.0 operations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25 global weather sensor stations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Spatial + temporal + parameter filters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Interactive map with temperature markers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Live Chart.js charts &amp; data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D6C2"/>
                </a:solidFill>
              </a:rPr>
              <a:t>Both projects served from a single URL:  http://127.0.0.1:8000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The Problem — Why Do We Need OGC SOS?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32918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B923C"/>
                </a:solidFill>
              </a:rPr>
              <a:t>Without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9344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Every sensor vendor uses a different API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Data formats incompatible across systems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No uniform way to query multiple sources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Vendor lock-in everywhere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422392" cy="32918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61872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With OGC SOS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51480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Universal operations: GetCapabilities,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DescribeSensor, GetObservation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Standardised XML responses (O&amp;M)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Any compliant client ↔ any server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Interoperability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09160"/>
            <a:ext cx="11274552" cy="777240"/>
          </a:xfrm>
          <a:prstGeom prst="rect">
            <a:avLst/>
          </a:prstGeom>
          <a:solidFill>
            <a:srgbClr val="072A27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FD6C2"/>
                </a:solidFill>
              </a:rPr>
              <a:t>GeoPulse implements the SOS 2.0 operation structure on top of real historical weather data, making it queryable by any OGC-aware tool.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The OGC Standards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Three standards working together in this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8463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SOS — Sensor Observation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4"/>
            <a:ext cx="3291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Defines HOW to ask for data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Three core operations: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GetCapabilities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DescribeSensor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GetObservation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Specifies allowed filters,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response format, service metadata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48463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O&amp;M — Observations &amp; Measurements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9344"/>
            <a:ext cx="32918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Defines WHAT a reading looks like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Every observation has: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featureOfInterest (where)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observedProperty (what)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procedure (which sensor)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phenomenonTime (when)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result (the value + unit)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593592" cy="48463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61872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EF7"/>
                </a:solidFill>
              </a:rPr>
              <a:t>SensorML — Sensor Model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09344"/>
            <a:ext cx="3319272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Defines the sensor's IDENTITY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For each sensor describes: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Unique identifier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Physical location (GML Point)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Output capabilities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Units of measurement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Our file: 10 sensors described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index.html
sos.js / map.js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D6C2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084831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HTTP GET
fetch()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2860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17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main.py
port 8000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D6C2"/>
                </a:solidFill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8483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SQL 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2860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17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SQLite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weather.db
17,775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587752" cy="77724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17904"/>
            <a:ext cx="2404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SensorML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847088"/>
            <a:ext cx="2404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sensorml.xml
static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D6C2"/>
                </a:solidFill>
              </a:rPr>
              <a:t>↓  XML Response (O&amp;M structured)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26080"/>
            <a:ext cx="22860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29809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XML /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310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application/xml
application/json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1821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D6C2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2004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</a:rPr>
              <a:t>DOMParser
parse → render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926080"/>
            <a:ext cx="22860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8094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Map Markers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10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OpenLayers
temperature colour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2926080"/>
            <a:ext cx="2953512" cy="777240"/>
          </a:xfrm>
          <a:prstGeom prst="rect">
            <a:avLst/>
          </a:prstGeom>
          <a:solidFill>
            <a:srgbClr val="161C2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0" y="2980944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310128"/>
            <a:ext cx="27706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Chart.js
bar + doughnut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23360"/>
            <a:ext cx="2651760" cy="777240"/>
          </a:xfrm>
          <a:prstGeom prst="rect">
            <a:avLst/>
          </a:prstGeom>
          <a:solidFill>
            <a:srgbClr val="0C1A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D6C2"/>
                </a:solidFill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439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sensor stations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4023360"/>
            <a:ext cx="2651760" cy="777240"/>
          </a:xfrm>
          <a:prstGeom prst="rect">
            <a:avLst/>
          </a:prstGeom>
          <a:solidFill>
            <a:srgbClr val="0C1A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4041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D6C2"/>
                </a:solidFill>
              </a:rPr>
              <a:t>~17k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4439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observations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023360"/>
            <a:ext cx="2651760" cy="777240"/>
          </a:xfrm>
          <a:prstGeom prst="rect">
            <a:avLst/>
          </a:prstGeom>
          <a:solidFill>
            <a:srgbClr val="0C1A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4041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D6C2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4439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parameters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4023360"/>
            <a:ext cx="2651760" cy="777240"/>
          </a:xfrm>
          <a:prstGeom prst="rect">
            <a:avLst/>
          </a:prstGeom>
          <a:solidFill>
            <a:srgbClr val="0C1A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404164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FD6C2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44439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SOS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The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Real historical weather data, curated for proper time-series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108960" cy="777240"/>
          </a:xfrm>
          <a:prstGeom prst="rect">
            <a:avLst/>
          </a:prstGeom>
          <a:solidFill>
            <a:srgbClr val="161C2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2646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GlobalWeatherRepository.csv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138,583 rows · 257 cities · 35 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6093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D6C2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9933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process_data.py
select 25 cities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371600"/>
            <a:ext cx="27432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cleaned_weather.csv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17,775 rows · 2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488" y="16093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FD6C2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db_setup.py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2743200" cy="777240"/>
          </a:xfrm>
          <a:prstGeom prst="rect">
            <a:avLst/>
          </a:prstGeom>
          <a:solidFill>
            <a:srgbClr val="161C2E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2646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weather.db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55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SQLite · 1.7 MB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14600"/>
            <a:ext cx="11640312" cy="914400"/>
          </a:xfrm>
          <a:prstGeom prst="rect">
            <a:avLst/>
          </a:prstGeom>
          <a:solidFill>
            <a:srgbClr val="181008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1127455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⚠  Original data issue: raw dataset used df.sample(5000) — random sampling destroyed time-series continuity.
Fix: rewrote process_data.py to select 25 specific cities and keep ALL their readings (~710 each).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D6C2"/>
                </a:solidFill>
              </a:rPr>
              <a:t>5 Observed Parameters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51960"/>
            <a:ext cx="2148840" cy="68580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2793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D6C2"/>
                </a:solidFill>
              </a:rPr>
              <a:t>Temperature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599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°C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9" y="4251960"/>
            <a:ext cx="2148840" cy="685800"/>
          </a:xfrm>
          <a:prstGeom prst="rect">
            <a:avLst/>
          </a:prstGeom>
          <a:solidFill>
            <a:srgbClr val="161C2E"/>
          </a:solidFill>
          <a:ln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42793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F6EF7"/>
                </a:solidFill>
              </a:rPr>
              <a:t>Humidity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39" y="4599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59" y="4251960"/>
            <a:ext cx="2148840" cy="685800"/>
          </a:xfrm>
          <a:prstGeom prst="rect">
            <a:avLst/>
          </a:prstGeom>
          <a:solidFill>
            <a:srgbClr val="161C2E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59" y="42793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Wind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59" y="4599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kph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79" y="4251960"/>
            <a:ext cx="2148840" cy="685800"/>
          </a:xfrm>
          <a:prstGeom prst="rect">
            <a:avLst/>
          </a:prstGeom>
          <a:solidFill>
            <a:srgbClr val="161C2E"/>
          </a:solidFill>
          <a:ln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79" y="42793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B923C"/>
                </a:solidFill>
              </a:rPr>
              <a:t>Pressure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79" y="4599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4251960"/>
            <a:ext cx="2148840" cy="685800"/>
          </a:xfrm>
          <a:prstGeom prst="rect">
            <a:avLst/>
          </a:prstGeom>
          <a:solidFill>
            <a:srgbClr val="161C2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4279392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4A3B8"/>
                </a:solidFill>
              </a:rPr>
              <a:t>Precipitation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599432"/>
            <a:ext cx="2148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mm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25 Global Sensor Stations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Geographically distributed — one sensor_id per city (e.g. Tokyo_Japan)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607040" cy="39319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046720"/>
                <a:gridCol w="91440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Cities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Asia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Tokyo, New Delhi, Beijing, Bangkok, Singapore, Tehran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Europe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Berlin, Rome, Warsaw, Moscow, London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Africa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Cairo, Nairobi, Dakar, Accra, Pretoria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Americas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Ottawa, Mexico City, Lima, Buenos Aires, Montevideo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Middle East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Riyadh, Muscat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Oceania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Canberra, Wellington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solidFill>
            <a:srgbClr val="071E2A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422392"/>
            <a:ext cx="109087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D6C2"/>
                </a:solidFill>
              </a:rPr>
              <a:t>Each sensor_id links a DB row (O&amp;M procedure) to its SensorML &lt;System&gt; entry — ~710 readings per station · timestamps 2024-05-16 → 2026-04-30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SensorML — DescribeSensor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GET /sos/sensor  →  the sensor's identity document (served as static XML file)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858000" cy="493776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6583680" cy="4718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&lt;SensorML xmlns="http://www.opengis.net/sensorml/2.0"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xmlns:gml="http://www.opengis.net/gml/3.2"&gt;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&lt;member&gt;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&lt;System&gt;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&lt;identifier&gt;Tokyo_Japan&lt;/identifier&gt;          &lt;!-- unique sensor ID --&gt;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&lt;description&gt;Weather sensor in Tokyo, Japan&lt;/description&gt;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&lt;location&gt;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&lt;gml:Point srsName="EPSG:4326"&gt;             &lt;!-- coordinate reference system --&gt;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&lt;gml:coordinates&gt;139.69,35.69&lt;/gml:coordinates&gt;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&lt;/gml:Point&gt;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&lt;/location&gt;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&lt;outputs&gt;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&lt;OutputList&gt;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&lt;output name="temperature" unit="Celsius"/&gt;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&lt;output name="humidity"    unit="%"/&gt;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&lt;output name="wind_speed"  unit="kph"/&gt;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&lt;output name="pressure"    unit="mb"/&gt;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&lt;/OutputList&gt;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&lt;/outputs&gt;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&lt;/System&gt;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&lt;/member&gt;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&lt;/SensorML&gt;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143000"/>
            <a:ext cx="4233672" cy="21945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9" y="1216152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Key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563624"/>
            <a:ext cx="3959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identifier — unique sensor ID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gml:Point — location in EPSG:4326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OutputList — what it measures + units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srsName — coordinate system declaration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520440"/>
            <a:ext cx="4233672" cy="25603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593592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Our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941064"/>
            <a:ext cx="3959352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10 representative sensors described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Covers all 6 continents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Served as a static file (not from DB)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In full istSOS: dynamic, DB-backed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sensor_id links to DB via O&amp;M procedure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GetCapabilities — Service Discovery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GET /sos/capabilities  →  answers: what can this service 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6858000" cy="539496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6583680" cy="5175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&lt;Capabilities version="2.0.0"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    xmlns:sos="http://www.opengis.net/sos/2.0"&gt;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&lt;ServiceIdentification&gt;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&lt;Title&gt;GeoPulse Sensor Observation Service&lt;/Title&gt;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&lt;ServiceType&gt;OGC:SOS&lt;/ServiceType&gt;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&lt;ServiceTypeVersion&gt;2.0.0&lt;/ServiceTypeVersion&gt;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&lt;/ServiceIdentification&gt;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&lt;OperationsMetadata&gt;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&lt;Operation name="GetCapabilities"/&gt;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&lt;Operation name="DescribeSensor"/&gt;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&lt;Operation name="GetObservation"&gt;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&lt;Parameter name="param"&gt;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&lt;AllowedValues&gt;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&lt;Value&gt;temperature&lt;/Value&gt;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&lt;Value&gt;humidity&lt;/Value&gt;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&lt;Value&gt;wind_speed&lt;/Value&gt;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&lt;Value&gt;pressure&lt;/Value&gt;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  &lt;Value&gt;precipitation&lt;/Value&gt;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&lt;/AllowedValues&gt;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&lt;/Parameter&gt;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&lt;/Operation&gt;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&lt;/OperationsMetadata&gt;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&lt;ObservationOfferingList&gt;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&lt;ObservationOffering&gt;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&lt;identifier&gt;weather_global&lt;/identifier&gt;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&lt;responseFormat&gt;application/xml&lt;/responseFormat&gt;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&lt;responseFormat&gt;application/json&lt;/responseFormat&gt;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&lt;/ObservationOffering&gt;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&lt;/ObservationOfferingList&gt;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&lt;/Capabilities&gt;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143000"/>
            <a:ext cx="4233672" cy="21945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39" y="1216152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Three sections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39" y="1563624"/>
            <a:ext cx="3959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ServiceIdentification — who we are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OperationsMetadata — what we support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ObservationOfferingList — the datasets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520440"/>
            <a:ext cx="4233672" cy="21945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39" y="3593592"/>
            <a:ext cx="3959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39" y="3941064"/>
            <a:ext cx="3959352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A client can discover this service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without prior knowledge of its API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Standard structure = any OGC tool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can parse it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GetObservation — Three Filter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GET /sos/observations  —  all filters are optional and combinable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32004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🌍  Spatial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4"/>
            <a:ext cx="32918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country=Japan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case-insensitive exact match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bbox=60,10,140,50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minLon, minLat, maxLon, maxLat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EPSG:4326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Draw tool fills bbox from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32004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⏱ 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9344"/>
            <a:ext cx="32918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after=2025-01-01 00:00:00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returns everything after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start=2025-01-01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end=2025-03-31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time window (inclusive)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datetime-local inputs in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593592" cy="32004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61872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📊  Parameter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09344"/>
            <a:ext cx="3319272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param=temperature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temperature / humidity /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wind_speed / pressure /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precipitation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op=gt  value=30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Operators: eq neq lt lte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        gt gte between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617720"/>
            <a:ext cx="11274552" cy="822960"/>
          </a:xfrm>
          <a:prstGeom prst="rect">
            <a:avLst/>
          </a:prstGeom>
          <a:solidFill>
            <a:srgbClr val="071E2A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81728"/>
            <a:ext cx="109087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D6C2"/>
                </a:solidFill>
              </a:rPr>
              <a:t>Example: Asian sensors where temperature was between 30–40°C in Jan 2025
/sos/observations?bbox=60,5,150,55&amp;param=temperature&amp;op=between&amp;value=30&amp;value2=40&amp;start=2025-01-01&amp;end=2025-01-31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Dynamic SQL — Safe Parameterized Queries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How URL filters become database queries in main.py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132320" cy="521208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6858000" cy="4992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conditions = []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bind_params = []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# Spatial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if country: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conditions.append("LOWER(country) = LOWER(?)")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bind_params.append(country)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if bbox: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min_lon, min_lat, max_lon, max_lat = map(float, bbox.split(","))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conditions.append("longitude BETWEEN ? AND ?")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conditions.append("latitude  BETWEEN ? AND ?")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bind_params += [min_lon, max_lon, min_lat, max_lat]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# Temporal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if start: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conditions.append("timestamp &gt;= ?")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bind_params.append(start)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# Parameter filter (param validated against allowlist — no injection risk)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if param in ALLOWED_PARAMS and op == "between":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conditions.append(f"{param} BETWEEN ? AND ?")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bind_params += [value, value2]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# Build and execute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where = "WHERE " + " AND ".join(conditions) if conditions else ""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sql   = f"SELECT * FROM observations {where} LIMIT ?"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bind_params.append(limit)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rows  = conn.execute(sql, bind_params).fetchall()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3959352" cy="23774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16152"/>
            <a:ext cx="3685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Security: SQL Injection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563624"/>
            <a:ext cx="3685032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? placeholders keep values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separate from the SQL string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User input NEVER pasted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directly into SQL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param column name validated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against an explicit allowlist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703320"/>
            <a:ext cx="3959352" cy="26517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776472"/>
            <a:ext cx="3685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Response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123944"/>
            <a:ext cx="3685032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fmt=xml (default):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rows_to_xml() wraps each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row in &lt;Observation&gt; tags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fmt=json: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FastAPI returns list of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dicts directly as 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O&amp;M — Observations &amp; Measurements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How our SQLite rows map to the ISO 19156 / OGC standard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0789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  <a:gridCol w="5029200"/>
              </a:tblGrid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O&amp;M Concept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Definition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Our Database Column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featureOfInterest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The place being observed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location_name, latitude, longitude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observedProperty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What is being measured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column name: temperature / humidity / ...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procedure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The sensor that made the observation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sensor_id  →  links to SensorML &lt;System&gt;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phenomenonTime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When the observation was made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timestamp  (e.g. '2025-01-15 11:30:00')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The measured value + unit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numeric value + unit declared in SensorML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892040"/>
            <a:ext cx="11274552" cy="1234440"/>
          </a:xfrm>
          <a:prstGeom prst="rect">
            <a:avLst/>
          </a:prstGeom>
          <a:solidFill>
            <a:srgbClr val="071E2A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XML output from /sos/observations: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21808"/>
            <a:ext cx="11274552" cy="68580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431536"/>
            <a:ext cx="11000232" cy="4663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&lt;Observations count="30"&gt;  &lt;Observation&gt;  &lt;location_name&gt;Berlin&lt;/location_name&gt;  &lt;temperature&gt;6.3&lt;/temperature&gt;  &lt;timestamp&gt;2025-01-01 11:30:00&lt;/timestamp&gt;  &lt;sensor_id&gt;Berlin_Germany&lt;/sensor_id&gt;  &lt;/Observation&gt;  ...&lt;/Observations&gt;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Backend — FastAPI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Python web framework: each URL is a decorated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7132320" cy="457200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52728"/>
            <a:ext cx="6858000" cy="4352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# @app.get decorates a function to handle an HTTP GET at that path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@app.get("/sos/capabilities")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def get_capabilities():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return Response(content=xml_string, media_type="application/xml")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@app.get("/sos/sensor")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def describe_sensor():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with open("sensorml.xml") as f: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    return Response(content=f.read(), media_type="application/xml")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@app.get("/sos/sensors")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def get_sensors():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rows = conn.execute("SELECT sensor_id, AVG(lat)... GROUP BY sensor_id")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return [dict(r) for r in rows]   # FastAPI auto-converts to JSON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@app.get("/sos/observations")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def get_observations(country=None, bbox=None, start=None, ...):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# ... build SQL, return XML or JSON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# Frontend static files served at /app  (MUST be last — after all API routes)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app.mount("/app", StaticFiles(directory="../frontend"), name="frontend")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43000"/>
            <a:ext cx="3959352" cy="21031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16152"/>
            <a:ext cx="3685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SOS Operations →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563624"/>
            <a:ext cx="36850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GetCapabilities → /sos/capabilities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DescribeSensor  → /sos/sensor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GetObservation  → /sos/observations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(custom)      → /sos/sensors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429000"/>
            <a:ext cx="3959352" cy="22860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3502152"/>
            <a:ext cx="3685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Key middleware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849624"/>
            <a:ext cx="36850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CORSMiddleware — allows browser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to call API from any origin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StaticFiles — serves the whole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frontend at /app/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single port for everything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Frontend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Pure HTML / CSS / JS — no framework, loads in any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index.html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9844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UI skeleton. Two tab divs: #ogcTab and #sosTab. Only one visible at a time via tabs.js.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7627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tabs.js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2140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Switches between OGC and SOS tabs. Initialises the SOS OpenLayers map on first open.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992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sos.js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4436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Entire SOS tab brain: map init, fetch pipeline, XML parser, table builder, Chart.js charts.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2219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map.js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6732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OGC tab map. OpenLayers base + WMS layer add/remove + BBOX draw interaction.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45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ogcRequests.js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59028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WMS/WFS request builders — constructs GetCapabilities, GetMap, GetFeature URLs.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2286000" cy="640080"/>
          </a:xfrm>
          <a:prstGeom prst="rect">
            <a:avLst/>
          </a:prstGeom>
          <a:solidFill>
            <a:srgbClr val="161C2E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46811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D6C2"/>
                </a:solidFill>
              </a:rPr>
              <a:t>config.js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413248"/>
            <a:ext cx="8805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Shared globals: setStatus() updates header dot; showNotification() shows toast popups.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SOS Tab — Interactive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OpenLayers map · 25 sensor markers · temperature colour encoding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31089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Marker Colour =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4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&lt; 0°C      blue  (#60a5fa)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0–15°C     teal  (#34d399)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15–25°C    green (#4ade80)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25–35°C    orange(#fb923c)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&gt; 35°C     red   (#ef4444)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Grey = no data loaded yet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31089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Map Layers (z-index stacking)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9344"/>
            <a:ext cx="32918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Layer 0: OSM base tiles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Layer 1: sensor marker dots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        (zIndex = 10)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Layer 2: bbox draw rectangle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        (zIndex = 20)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OpenLayers Vector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188720"/>
            <a:ext cx="3593592" cy="310896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61872"/>
            <a:ext cx="3319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BBOX Draw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609344"/>
            <a:ext cx="33192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Click '✏ Draw' button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Drag rectangle on map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Release → coordinates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auto-fill the four bbox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input fields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ol.interaction.Draw + createBox()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74552" cy="14173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Popup on Marker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92624"/>
            <a:ext cx="11000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Shows: city name, country, observation count loaded, latest temp/humidity/wind/pressure/precip/timestamp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OL Overlay element anchored to marker coordinate with autoPan animation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SOS Tab — Data Table &amp;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22860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Observation Table (up to 500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9344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Columns: #, City, Country, Timestamp,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Temp °C, Humidity %, Wind kph,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Pressure mb, Precip mm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Temperature cells rendered as coloured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badges matching the map legend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422392" cy="22860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61872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XML Response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5148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Raw XML from the server displayed in full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Shows the actual O&amp;M-structured response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Copy button for clipboard export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Request URL shown above — copy-pasteable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directly into curl or Postman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5394960" cy="22860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82219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Bar Chart (Chart.js)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169663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Average temperature by city (top 10)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Bars coloured with same temperature scale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as map markers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Responsive, dark-mode aware tick colours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749039"/>
            <a:ext cx="5422392" cy="228600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822191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Doughnut Chart (Chart.js)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169663"/>
            <a:ext cx="514807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Observation count by city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Shows which sensors have the most data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in the current filter result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Legend on the right with city names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Bidirectional Marker ↔ Table Sync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Click anything — everything else reacts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34747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Click a table row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9344"/>
            <a:ext cx="5120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Row highlights with blue outline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Map pans and zooms to that sensor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Marker enlarges (radius 7 → 11px)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White stroke on selected marker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Popup opens showing latest values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22392" cy="347472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61872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Click a map marker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9344"/>
            <a:ext cx="514807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Marker enlarges + white stroke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Popup appears above the dot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Matching table row highlights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Table auto-scrolls to that row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Previous selection deselected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892040"/>
            <a:ext cx="11274552" cy="1600200"/>
          </a:xfrm>
          <a:prstGeom prst="rect">
            <a:avLst/>
          </a:prstGeom>
          <a:solidFill>
            <a:srgbClr val="0A0E1A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001768"/>
            <a:ext cx="11000232" cy="1380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F8F8F2"/>
                </a:solidFill>
                <a:latin typeface="Courier New"/>
              </a:rPr>
              <a:t>// Table row click → map pan + popup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tr.addEventListener("click", () =&gt; {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_selectSensor(sensorId);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const coord = markerFeature.getGeometry().getCoordinates();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sosMap.getView().animate({ center: coord, zoom: 4 });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_showSensorPopup(sensorId, coord);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});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// Map click → table highlight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sosMap.on("click", (evt) =&gt; {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sosMap.forEachFeatureAtPixel(evt.pixel, (feature) =&gt; {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const sid = feature.get("sensor_id");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_highlightTableRow(sid);       // finds &lt;tr data-sensor-id="..."&gt;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  row.scrollIntoView({ behavior: "smooth", block: "nearest" });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  }, { hitTolerance: 8 });</a:t>
            </a:r>
          </a:p>
          <a:p>
            <a:r>
              <a:rPr sz="950">
                <a:solidFill>
                  <a:srgbClr val="F8F8F2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Full Request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You click 'Get Observations' — every step that follows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74552" cy="713232"/>
          </a:xfrm>
          <a:prstGeom prst="rect">
            <a:avLst/>
          </a:prstGeom>
          <a:solidFill>
            <a:srgbClr val="101A30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1  Browser reads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298448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Builds URL: /sos/observations?country=Japan&amp;param=temperature&amp;op=gt&amp;value=25&amp;limit=500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11274552" cy="713232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2  HTTP GET →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39696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Request arrives at main.py · get_observations() · params extracted automatically by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71216"/>
            <a:ext cx="11274552" cy="713232"/>
          </a:xfrm>
          <a:prstGeom prst="rect">
            <a:avLst/>
          </a:prstGeom>
          <a:solidFill>
            <a:srgbClr val="101A30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169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3  SQL built &amp; executed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80944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SELECT * FROM observations WHERE LOWER(country)=LOWER('Japan') AND temperature&gt;25 LIMIT 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12464"/>
            <a:ext cx="11274552" cy="713232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58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4  rows_to_xml()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22192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Each SQLite row wrapped in &lt;Observation&gt; tags · returned as application/xml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53712"/>
            <a:ext cx="11274552" cy="713232"/>
          </a:xfrm>
          <a:prstGeom prst="rect">
            <a:avLst/>
          </a:prstGeom>
          <a:solidFill>
            <a:srgbClr val="101A30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99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5  DOMParser in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63440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XML string → tree → JS array of objects · stored in _currentObs[]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94960"/>
            <a:ext cx="11274552" cy="713232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D6C2"/>
                </a:solidFill>
              </a:rPr>
              <a:t>6  Three parallel renders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504688"/>
            <a:ext cx="8165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_renderObsMarkers() recolours dots · _renderTable() builds rows · _renderCharts() draws charts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Standards Compliance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7899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7132320"/>
              </a:tblGrid>
              <a:tr h="6057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Concept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D6C2"/>
                          </a:solidFill>
                        </a:rPr>
                        <a:t>Our Implementation</a:t>
                      </a:r>
                    </a:p>
                  </a:txBody>
                  <a:tcPr>
                    <a:solidFill>
                      <a:srgbClr val="1A284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SOS 2.0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GetCapabilities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 /sos/capabilities → Capabilities XML with OperationsMetadata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SOS 2.0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DescribeSensor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 /sos/sensor → SensorML 2.0 document (10 sensors)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SOS 2.0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GetObservation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 /sos/observations → spatial + temporal + parameter filters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O&amp;M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Observation model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Each DB row encodes all 5 O&amp;M components (procedure, time, result...)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SensorML 2.0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System description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Sensors described with GML location, output list, units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WMS 1.1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GetCapabilities + GetMap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OGC tab — full WMS client against GeoServer (Project 1)</a:t>
                      </a:r>
                    </a:p>
                  </a:txBody>
                  <a:tcPr>
                    <a:solidFill>
                      <a:srgbClr val="12182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WFS 2.0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GetCapabilities + GetFeature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BD5E1"/>
                          </a:solidFill>
                        </a:rPr>
                        <a:t>OGC tab — WFS client with BBOX, max features (Project 1)</a:t>
                      </a:r>
                    </a:p>
                  </a:txBody>
                  <a:tcPr>
                    <a:solidFill>
                      <a:srgbClr val="16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D6C2"/>
                </a:solidFill>
              </a:rPr>
              <a:t>Summary &amp; 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1274552" cy="22860"/>
          </a:xfrm>
          <a:prstGeom prst="rect">
            <a:avLst/>
          </a:prstGeom>
          <a:solidFill>
            <a:srgbClr val="0FD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32918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9344"/>
            <a:ext cx="5120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Unified OGC portal (WMS + WFS + SOS)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25-sensor global weather observatory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SOS 2.0 operations over real data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SensorML + O&amp;M compliant responses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Interactive map, table, charts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Single-command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422392" cy="32918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261872"/>
            <a:ext cx="51480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09344"/>
            <a:ext cx="5148072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Python 3  ·  FastAPI  ·  SQLite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OpenLayers  ·  Chart.js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OGC SOS 2.0  ·  SensorML 2.0  ·  O&amp;M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/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No external dependencies beyond: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pip install -r requirements.txt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  uvicorn main:app --port 8000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09160"/>
            <a:ext cx="5394960" cy="1691640"/>
          </a:xfrm>
          <a:prstGeom prst="rect">
            <a:avLst/>
          </a:prstGeom>
          <a:solidFill>
            <a:srgbClr val="161C2E"/>
          </a:solidFill>
          <a:ln>
            <a:solidFill>
              <a:srgbClr val="2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D6C2"/>
                </a:solidFill>
              </a:rPr>
              <a:t>Possible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9784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CBD5E1"/>
                </a:solidFill>
              </a:rPr>
              <a:t>▸ Migrate to istSOS (OGC-certified server)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Containerise with Docker Compose</a:t>
            </a:r>
          </a:p>
          <a:p>
            <a:pPr algn="l"/>
            <a:r>
              <a:rPr sz="1100">
                <a:solidFill>
                  <a:srgbClr val="CBD5E1"/>
                </a:solidFill>
              </a:rPr>
              <a:t>▸ Real-time ingestion via InsertObservation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4709160"/>
            <a:ext cx="5422392" cy="1691640"/>
          </a:xfrm>
          <a:prstGeom prst="rect">
            <a:avLst/>
          </a:prstGeom>
          <a:solidFill>
            <a:srgbClr val="071E2A"/>
          </a:solidFill>
          <a:ln>
            <a:solidFill>
              <a:srgbClr val="0FD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FD6C2"/>
                </a:solidFill>
              </a:rPr>
              <a:t>◈  GeoPulse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852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cd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559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D6C2"/>
                </a:solidFill>
              </a:rPr>
              <a:t>uvicorn main:app --host 127.0.0.1 --port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70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http://127.0.0.1:8000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